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Roboto Mono" panose="00000009000000000000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pkw1PiEs/EwYPZHxbzwey7Loi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69D056-80A6-491C-96FD-EC5DB0EAFE22}">
  <a:tblStyle styleId="{7A69D056-80A6-491C-96FD-EC5DB0EAFE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c479650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8c4796503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c479650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8c479650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 dirty="0"/>
              <a:t>Presentación Portafolio Título</a:t>
            </a:r>
            <a:br>
              <a:rPr lang="es-CL" dirty="0"/>
            </a:br>
            <a:r>
              <a:rPr lang="es-CL" sz="3200" dirty="0" err="1"/>
              <a:t>Mindsave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 dirty="0"/>
              <a:t>Ingeniería Informática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dirty="0"/>
              <a:t>Escuela de Informática y Telecomunicaciones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dirty="0"/>
              <a:t>Sede Puente Alto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dirty="0"/>
              <a:t>2026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32381" y="1638352"/>
            <a:ext cx="5427545" cy="3363551"/>
            <a:chOff x="0" y="0"/>
            <a:chExt cx="6956608" cy="3415981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44587" dist="14862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71350" tIns="71350" rIns="71350" bIns="713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400" tIns="62400" rIns="62400" bIns="624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38"/>
                <a:buFont typeface="Calibri"/>
                <a:buNone/>
              </a:pPr>
              <a:r>
                <a:rPr lang="es-CL" sz="163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Xiao Wen Ma Alvarez</a:t>
              </a:r>
              <a:endParaRPr sz="1638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33760" marR="0" lvl="1" indent="-133760" algn="l" rtl="0">
                <a:lnSpc>
                  <a:spcPct val="90000"/>
                </a:lnSpc>
                <a:spcBef>
                  <a:spcPts val="573"/>
                </a:spcBef>
                <a:spcAft>
                  <a:spcPts val="0"/>
                </a:spcAft>
                <a:buClr>
                  <a:schemeClr val="lt1"/>
                </a:buClr>
                <a:buSzPts val="1248"/>
                <a:buFont typeface="Calibri"/>
                <a:buChar char="•"/>
              </a:pPr>
              <a:r>
                <a:rPr lang="es-CL" sz="124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proyecto/ Gerente de Proyecto Técnico</a:t>
              </a:r>
              <a:endParaRPr sz="1248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33760" marR="0" lvl="1" indent="-133760" algn="l" rtl="0">
                <a:lnSpc>
                  <a:spcPct val="90000"/>
                </a:lnSpc>
                <a:spcBef>
                  <a:spcPts val="187"/>
                </a:spcBef>
                <a:spcAft>
                  <a:spcPts val="0"/>
                </a:spcAft>
                <a:buClr>
                  <a:schemeClr val="lt1"/>
                </a:buClr>
                <a:buSzPts val="1248"/>
                <a:buFont typeface="Calibri"/>
                <a:buChar char="•"/>
              </a:pPr>
              <a:r>
                <a:rPr lang="es-CL" sz="124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Dirección general y control del cronograma</a:t>
              </a:r>
              <a:endParaRPr sz="1248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44587" dist="14862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71350" tIns="71350" rIns="71350" bIns="713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44587" dist="14862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71350" tIns="71350" rIns="71350" bIns="713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44587" dist="14862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71350" tIns="71350" rIns="71350" bIns="713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44587" dist="14862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71350" tIns="71350" rIns="71350" bIns="713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44587" dist="14862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71350" tIns="71350" rIns="71350" bIns="713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638544" y="1133828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400" tIns="62400" rIns="62400" bIns="624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38"/>
                <a:buFont typeface="Calibri"/>
                <a:buNone/>
              </a:pPr>
              <a:r>
                <a:rPr lang="es-CL" sz="1638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Tamara Miranda</a:t>
              </a:r>
              <a:endParaRPr sz="1638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33760" marR="0" lvl="1" indent="-133760" algn="l" rtl="0">
                <a:lnSpc>
                  <a:spcPct val="90000"/>
                </a:lnSpc>
                <a:spcBef>
                  <a:spcPts val="573"/>
                </a:spcBef>
                <a:spcAft>
                  <a:spcPts val="0"/>
                </a:spcAft>
                <a:buClr>
                  <a:schemeClr val="lt1"/>
                </a:buClr>
                <a:buSzPts val="1248"/>
                <a:buFont typeface="Calibri"/>
                <a:buChar char="•"/>
              </a:pPr>
              <a:r>
                <a:rPr lang="es-CL" sz="1248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Ingeniera de Calidad y </a:t>
              </a:r>
              <a:r>
                <a:rPr lang="es-CL" sz="1248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r>
                <a:rPr lang="es-CL" sz="1248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(QA), Programador</a:t>
              </a:r>
              <a:endParaRPr sz="1248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187"/>
                </a:spcBef>
                <a:spcAft>
                  <a:spcPts val="0"/>
                </a:spcAft>
                <a:buNone/>
              </a:pPr>
              <a:r>
                <a:rPr lang="es-CL" sz="1248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Control de calidad y pruebas de software</a:t>
              </a:r>
              <a:endParaRPr sz="1248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5" name="Google Shape;105;p2" title="Fot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350" y="1678999"/>
            <a:ext cx="1052425" cy="90535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9" name="Google Shape;109;p2" title="WhatsApp Image 2026-09-07 at 11.27.57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712" y="4055904"/>
            <a:ext cx="1134350" cy="893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 title="WhatsApp Image 2026-09-07 at 11.40.26 A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7547" y="2847126"/>
            <a:ext cx="1134350" cy="93645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A3519284-FB10-53F4-177C-99AA07903BFC}"/>
              </a:ext>
            </a:extLst>
          </p:cNvPr>
          <p:cNvSpPr txBox="1"/>
          <p:nvPr/>
        </p:nvSpPr>
        <p:spPr>
          <a:xfrm>
            <a:off x="5483644" y="4025389"/>
            <a:ext cx="4149153" cy="83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400" tIns="62400" rIns="62400" bIns="624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38"/>
              <a:buFont typeface="Calibri"/>
              <a:buNone/>
            </a:pPr>
            <a:r>
              <a:rPr lang="es-CL" sz="1638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Javiera Miranda</a:t>
            </a:r>
            <a:endParaRPr sz="1638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3760" marR="0" lvl="1" indent="-133760" algn="l" rtl="0">
              <a:lnSpc>
                <a:spcPct val="90000"/>
              </a:lnSpc>
              <a:spcBef>
                <a:spcPts val="573"/>
              </a:spcBef>
              <a:spcAft>
                <a:spcPts val="0"/>
              </a:spcAft>
              <a:buClr>
                <a:schemeClr val="lt1"/>
              </a:buClr>
              <a:buSzPts val="1248"/>
              <a:buFont typeface="Calibri"/>
              <a:buChar char="•"/>
            </a:pPr>
            <a:r>
              <a:rPr lang="es-CL" sz="1248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Analista programador, DBA, </a:t>
            </a:r>
            <a:endParaRPr sz="1248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87"/>
              </a:spcBef>
              <a:spcAft>
                <a:spcPts val="0"/>
              </a:spcAft>
              <a:buNone/>
            </a:pPr>
            <a:r>
              <a:rPr lang="es-CL" sz="1248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 de calidad y pruebas de software</a:t>
            </a:r>
            <a:endParaRPr sz="1248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Existe una brecha estructural crítica en salud mental entre la alta demanda y la limitada disponibilidad de psicoterapeutas, lo que genera un "espacio desasistido" altamente vulnerable entre sesiones clínicas (que suelen ser quincenales o mensuales). Los pacientes carecen de herramientas estructuradas en el momento exacto en que ocurren las crisis. Además, los métodos de registro tradicionales (hojas de papel) son informales, descriptivos y retrospectivos (se completan días después de memoria), lo que impide reconocer patrones en tiempo real, carece de una reestructuración cognitiva efectiva y no mide cuantitativamente el alivio emocional</a:t>
            </a:r>
            <a:r>
              <a:rPr lang="es-CL" sz="1200">
                <a:solidFill>
                  <a:schemeClr val="dk1"/>
                </a:solidFill>
              </a:rPr>
              <a:t> </a:t>
            </a:r>
            <a:endParaRPr sz="19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Mindsave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es un ecosistema de software multidispositivo (SaaS) que interviene autónomamente en este espacio inter-sesiones, digitalizando el marco clínico de la Terapia Cognitivo-Conductual (TCC). Consiste en una aplicación móvil para pacientes (con evaluaciones psicométricas diarias BMS, un Registro de Estado de Ánimo interactivo de 6 pasos para reestructuración cognitiva y un Chat de Externalización de Voces con Inteligencia Artificial para refutar distorsiones clínicas en tiempo real) y una plataforma web responsiva exclusiva para el administrador, limitada de forma estricta a la gestión técnica de cuentas para garantizar la privacidad por diseño.</a:t>
            </a:r>
            <a:r>
              <a:rPr lang="es-CL" sz="1200">
                <a:solidFill>
                  <a:schemeClr val="dk1"/>
                </a:solidFill>
              </a:rPr>
              <a:t> 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Diseñar y desarrollar un ecosistema tecnológico dual integrado compuesto por una aplicación móvil principal (Flutter/Dart) para el auto-monitoreo de personas y una aplicación web secundaria responsiva (React/TypeScript) para la administración de la plataforma que digitalice de forma estructurada las técnicas de Terapia Cognitivo-Conductual (TCC), garantizando la seguridad mediante tokens JWT y la persistencia de datos en PostgreSQL a través de Prisma ORM</a:t>
            </a:r>
            <a:r>
              <a:rPr lang="es-CL" sz="1200">
                <a:solidFill>
                  <a:schemeClr val="dk1"/>
                </a:solidFill>
              </a:rPr>
              <a:t> 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Codificar e integrar en la aplicación móvil de las personas usuarias los tres módulos principales de TCC: el Test Breve de Estado de Ánimo (BMS) para evaluaciones psicométricas, el Registro Diario de 6 pasos con cálculo automatizado del porcentaje de alivio emocional, y el Chat de Externalización de Voces asistido por el modelo de Inteligencia Artificial Gemini con respuestas en streaming en tiempo real</a:t>
            </a:r>
            <a:r>
              <a:rPr lang="es-CL" sz="1200">
                <a:solidFill>
                  <a:schemeClr val="dk1"/>
                </a:solidFill>
              </a:rPr>
              <a:t> 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>
            <a:spLocks noGrp="1"/>
          </p:cNvSpPr>
          <p:nvPr>
            <p:ph type="title"/>
          </p:nvPr>
        </p:nvSpPr>
        <p:spPr>
          <a:xfrm>
            <a:off x="838190" y="457922"/>
            <a:ext cx="105156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282150" y="1126750"/>
            <a:ext cx="11627700" cy="6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Ecosistema dual integrado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: Ofrece una aplicación móvil (Flutter/Dart) para el auto-monitoreo de personas y una plataforma web (React/TypeScript) de uso exclusivo para administración.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Módulos clínicos de autoayuda (Móvil):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○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Test Breve de Estado de Ánimo (BMS)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: Evaluación psicométrica diaria de 22 ítems.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○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Registro Diario de Estado de Ánimo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: Ejercicio guiado de reestructuración cognitiva en 6 pasos con cálculo automático del alivio emocional.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○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Chat de Externalización de Voces con IA: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 Conversación interactiva con Google Gemini para refutar pensamientos automáticos en tiempo real y con respuestas en streaming.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Autonomía administrativa (Web):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 Permite al administrador gestionar de forma autónoma las cuentas de usuario (crear, buscar, filtrar por rol/estado, editar, aplicar baja lógica y restaurar).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Seguridad y Privacidad: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 Aplica autenticación robusta mediante tokens JWT, enmascaramiento de claves/sesiones, contraseñas cifradas con bcrypt y restricción estricta para que cada persona acceda únicamente a sus propios datos privados.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Reportes y exportaciones: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 Visualiza estadísticas con filtros en pantalla y permite la descarga binaria local en formatos PDF y XLSX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No reemplaza la atención o terapia profesional: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 Es una herramienta preventiva para usar entre sesiones clínicas. Bajo ninguna circunstancia sustituye el diagnóstico o tratamiento de un especialista cualificado.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No atiende crisis de emergencia ni riesgo vital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: El sistema tiene prohibido realizar contención de crisis (impulsos autolesivos o de agresión). 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No expone los datos de salud mental de los usuarios al Administrador: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 Por un principio estricto de confidencialidad y privacidad por diseño, el panel web del administrador no cuenta con vistas ni consultas para visualizar los tests, diarios de TCC o chats privados de las personas.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No emite diagnósticos médicos ni receta fármacos: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 El modelo generativo Gemini está programado únicamente para guiar la refutación lógica del pensamiento negativo, sin emitir juicios clínicos de valor ni prescribir medicamentos.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●"/>
            </a:pPr>
            <a:r>
              <a:rPr lang="es-CL" sz="1200" b="1">
                <a:solidFill>
                  <a:srgbClr val="303030"/>
                </a:solidFill>
                <a:highlight>
                  <a:srgbClr val="FFFFFF"/>
                </a:highlight>
              </a:rPr>
              <a:t>No funciona de manera offline completa: </a:t>
            </a:r>
            <a:r>
              <a:rPr lang="es-CL" sz="1200">
                <a:solidFill>
                  <a:srgbClr val="303030"/>
                </a:solidFill>
                <a:highlight>
                  <a:srgbClr val="FFFFFF"/>
                </a:highlight>
              </a:rPr>
              <a:t>Para registrar transacciones, almacenar adjuntos (Cloudinary) y procesar el chat de IA (Gemini), el ecosistema requiere de forma obligatoria una conexión activa y estable a internet</a:t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838191" y="70809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01975" y="1460800"/>
            <a:ext cx="11489400" cy="4794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Título: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Perfiles de Usuario del Ecosistema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Subtítulo: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Roles definidos según necesidades, privilegios y entorno operativo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1. </a:t>
            </a: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Persona Usuaria Beneficiaria (Usuario Final / Paciente)</a:t>
            </a:r>
            <a:endParaRPr sz="1300" b="1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Nivel Técnico: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General (usuario común de teléfonos inteligentes).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Canal: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Aplicación Móvil (Flutter/Dart).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Rol y Uso: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Realiza de forma autónoma su registro de ánimo, autoevaluaciones con el Test Breve (BMS), ejercicios de reestructuración cognitiva (CBT de 6 pasos), consultas al chat de IA en tiempo real y exportación de sus reportes de evolución.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2. Administrador Institucional (Profesional)</a:t>
            </a:r>
            <a:endParaRPr sz="1300" b="1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Nivel Técnico:</a:t>
            </a:r>
            <a:r>
              <a:rPr lang="es-CL" sz="1500">
                <a:solidFill>
                  <a:srgbClr val="303030"/>
                </a:solidFill>
                <a:highlight>
                  <a:srgbClr val="FFFFFF"/>
                </a:highlight>
              </a:rPr>
              <a:t> </a:t>
            </a:r>
            <a:r>
              <a:rPr lang="es-CL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Profesional / atención al cliente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Canal: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Plataforma Web Administrativa (React SPA).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Rol y Uso: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Búsqueda, filtrado, creación, edición, baja lógica (</a:t>
            </a:r>
            <a:r>
              <a:rPr lang="es-CL" sz="1300">
                <a:solidFill>
                  <a:srgbClr val="303030"/>
                </a:solidFill>
                <a:highlight>
                  <a:srgbClr val="F2F2F2"/>
                </a:highlight>
                <a:latin typeface="Roboto Mono"/>
                <a:ea typeface="Roboto Mono"/>
                <a:cs typeface="Roboto Mono"/>
                <a:sym typeface="Roboto Mono"/>
              </a:rPr>
              <a:t>isActive=false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) y restauración de cuentas de usuario.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Privacidad por Diseño: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Sin acceso a los registros de TCC, tests de ánimo o conversaciones de chat del paciente, garantizando confidencialidad absoluta.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3. Equipo de Ingeniería (Administrador Técnico)</a:t>
            </a:r>
            <a:endParaRPr sz="1300" b="1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Nivel Técnico: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Desarrolladores e ingenieros de software de </a:t>
            </a:r>
            <a:r>
              <a:rPr lang="es-CL" sz="1300" i="1">
                <a:solidFill>
                  <a:srgbClr val="303030"/>
                </a:solidFill>
                <a:highlight>
                  <a:srgbClr val="FFFFFF"/>
                </a:highlight>
              </a:rPr>
              <a:t>Digital Solutions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Canal: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Infraestructura Backend y Persistencia.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○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Rol y Uso: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Responsables de la administración directa de la base de datos PostgreSQL en Supabase, el despliegue de la API REST, el mantenimiento del API Gateway y el monitoreo de las integraciones con Google Gemini y Cloudinary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783466" y="78996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39475" y="1487000"/>
            <a:ext cx="10515600" cy="5225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601" y="1542675"/>
            <a:ext cx="7672800" cy="5115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>
            <a:spLocks noGrp="1"/>
          </p:cNvSpPr>
          <p:nvPr>
            <p:ph type="title"/>
          </p:nvPr>
        </p:nvSpPr>
        <p:spPr>
          <a:xfrm>
            <a:off x="651577" y="639886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pic>
        <p:nvPicPr>
          <p:cNvPr id="151" name="Google Shape;15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" y="2691247"/>
            <a:ext cx="1659025" cy="337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6925" y="2680800"/>
            <a:ext cx="1659025" cy="3394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4838" y="2689925"/>
            <a:ext cx="1877725" cy="3376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7550" y="2680800"/>
            <a:ext cx="2103152" cy="337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0550" y="2653538"/>
            <a:ext cx="1714162" cy="34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65600" y="2586824"/>
            <a:ext cx="1714150" cy="34677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 txBox="1"/>
          <p:nvPr/>
        </p:nvSpPr>
        <p:spPr>
          <a:xfrm>
            <a:off x="104075" y="2197550"/>
            <a:ext cx="114201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just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s-CL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 inicial ( menú de inicio)    </a:t>
            </a:r>
            <a:r>
              <a:rPr lang="es-CL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2.  </a:t>
            </a:r>
            <a:r>
              <a:rPr lang="es-CL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 de Autentificación de los usuarios                         3. Módulo de Test breve de estado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5" y="3015425"/>
            <a:ext cx="1679050" cy="342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2350" y="3008421"/>
            <a:ext cx="1679050" cy="3442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1388" y="2999625"/>
            <a:ext cx="1679050" cy="3459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2388" y="3015425"/>
            <a:ext cx="1743284" cy="345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5750" y="3015425"/>
            <a:ext cx="1743275" cy="3556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19550" y="2957398"/>
            <a:ext cx="1501675" cy="303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 txBox="1"/>
          <p:nvPr/>
        </p:nvSpPr>
        <p:spPr>
          <a:xfrm>
            <a:off x="104075" y="2435050"/>
            <a:ext cx="1121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s-CL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Registro de estado de ánimo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01750" y="3030347"/>
            <a:ext cx="1687925" cy="339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f8c4796503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25" y="3141288"/>
            <a:ext cx="1687925" cy="349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f8c4796503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3150" y="3141300"/>
            <a:ext cx="1617150" cy="34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f8c4796503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1300" y="3123838"/>
            <a:ext cx="1687925" cy="352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f8c4796503_0_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60225" y="3123850"/>
            <a:ext cx="1617150" cy="342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f8c4796503_0_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71325" y="3340275"/>
            <a:ext cx="2338025" cy="24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f8c4796503_0_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97050" y="2863525"/>
            <a:ext cx="1810852" cy="39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f8c4796503_0_17"/>
          <p:cNvSpPr txBox="1"/>
          <p:nvPr/>
        </p:nvSpPr>
        <p:spPr>
          <a:xfrm>
            <a:off x="222825" y="2266825"/>
            <a:ext cx="10648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externalización de voces (chat con IA)                                                                      2.  Módulo Reportes en PDF y XLS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f8c4796503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50" y="763425"/>
            <a:ext cx="3944425" cy="2838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f8c4796503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250" y="3708888"/>
            <a:ext cx="3944425" cy="27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f8c4796503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9062" y="783211"/>
            <a:ext cx="3733875" cy="279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f8c4796503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9850" y="3775725"/>
            <a:ext cx="4065950" cy="23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f8c4796503_0_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68600" y="783200"/>
            <a:ext cx="3944425" cy="224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f8c4796503_0_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00975" y="3095400"/>
            <a:ext cx="3733875" cy="210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f8c4796503_0_21"/>
          <p:cNvSpPr txBox="1"/>
          <p:nvPr/>
        </p:nvSpPr>
        <p:spPr>
          <a:xfrm>
            <a:off x="212925" y="287600"/>
            <a:ext cx="38595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Administrador del sistema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99" name="Google Shape;199;p10"/>
          <p:cNvGraphicFramePr/>
          <p:nvPr/>
        </p:nvGraphicFramePr>
        <p:xfrm>
          <a:off x="1708434" y="2356863"/>
          <a:ext cx="7525225" cy="3388440"/>
        </p:xfrm>
        <a:graphic>
          <a:graphicData uri="http://schemas.openxmlformats.org/drawingml/2006/table">
            <a:tbl>
              <a:tblPr firstRow="1" bandRow="1">
                <a:noFill/>
                <a:tableStyleId>{7A69D056-80A6-491C-96FD-EC5DB0EAFE22}</a:tableStyleId>
              </a:tblPr>
              <a:tblGrid>
                <a:gridCol w="321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b="1" u="none" strike="noStrike" cap="non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b="1" u="none" strike="noStrike" cap="none">
                          <a:solidFill>
                            <a:schemeClr val="dk1"/>
                          </a:solidFill>
                        </a:rPr>
                        <a:t>Fechas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Cierre de Planificación y Aprobación del Acta de Constitución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24 de agosto de 2026</a:t>
                      </a:r>
                      <a:r>
                        <a:rPr lang="es-CL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22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Cierre de Análisis y Aprobación de la ERS y Prototipos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30 de septiembre de 2026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20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Finalización de la Infraestructura de Base de Datos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8 de octubre de 2026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20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Culminación del Backend y la App Móvil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28 de octubre de 2026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20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Término de Desarrollo del Sistema y Cierre de Programación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30 de octubre de 2026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Certificación de Pruebas Unitarias, Funcionales y QA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8 de noviembre de 2026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>
                        <a:solidFill>
                          <a:srgbClr val="30303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Paso a Producción, Capacitación y Firma del Acta de Cierre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30303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30 de noviembre de 2026</a:t>
                      </a:r>
                      <a:r>
                        <a:rPr lang="es-CL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20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782337" y="1681843"/>
            <a:ext cx="10247613" cy="433251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El proyecto </a:t>
            </a: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Mindsave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contempla un presupuesto total de $46.342.262 CLP (costo directo de $28.963.914 CLP y 1.918 HH de esfuerzo). Como se detalla en la gráfica, la inversión se concentra en la fase de Desarrollo (59,2%) para la construcción del ecosistema dual, y en las etapas de Análisis, Diseño y QA (25,2% conjunto) para certificar la rigurosidad clínica, la seguridad y la privacidad de los datos</a:t>
            </a:r>
            <a:r>
              <a:rPr lang="es-CL" sz="1200">
                <a:solidFill>
                  <a:schemeClr val="dk1"/>
                </a:solidFill>
              </a:rPr>
              <a:t>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2013" y="1920325"/>
            <a:ext cx="5073575" cy="22197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>
            <a:spLocks noGrp="1"/>
          </p:cNvSpPr>
          <p:nvPr>
            <p:ph type="title"/>
          </p:nvPr>
        </p:nvSpPr>
        <p:spPr>
          <a:xfrm>
            <a:off x="641252" y="771611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468452" y="1343091"/>
            <a:ext cx="10861200" cy="76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03030"/>
                </a:solidFill>
                <a:highlight>
                  <a:srgbClr val="FFFFFF"/>
                </a:highlight>
              </a:rPr>
              <a:t>1. Backend y Persistencia (API de Servidor)</a:t>
            </a:r>
            <a:endParaRPr sz="1150" b="1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Entorno y Lenguaje: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Node.js con módulos nativos ESM y programación en TypeScript 5.9.3 (modo estricto).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Servidor HTTP: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Express 5 (v5.2.1) encargado de enrutar las peticiones REST.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Base de Datos y ORM: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PostgreSQL alojado en Supabase, utilizando Prisma ORM (Prisma CLI v7.9.1 y Cliente v7.10.0) para la persistencia segura de datos clínicos y de usuario.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Seguridad: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Encriptación de contraseñas con bcrypt (v6.0.0) y emisión de tokens JWT (jsonwebtoken v9.0.3) para la autenticación de las sesiones.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Validaciones y Logs: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Esquemas estrictos de entrada de datos con Zod (v4.3.6) y registro de auditoría con Winston (v3.19.0).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03030"/>
                </a:solidFill>
                <a:highlight>
                  <a:srgbClr val="FFFFFF"/>
                </a:highlight>
              </a:rPr>
              <a:t>2. Aplicación Móvil Principal (Pacientes)</a:t>
            </a:r>
            <a:endParaRPr sz="1150" b="1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Framework y SDK: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SDK de Flutter (v3.47) y lenguaje Dart (^3.12.2) para compilación nativa en Android e iOS.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Gestión de Estado: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Riverpod 3 (v^3.4.2) (implementado de forma reactiva sin generación de código).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Navegación: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 go_router (v^17.5.0) con control de guardas para proteger las rutas privadas.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Cliente HTTP: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dio (v^5.11.0) con el middleware dio_cache_interceptor (v^4.0.7) para proveer caché en memoria local por 5 minutos.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Gráficos y Exportaciones: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Componentes estadísticos con fl_chart (v^1.2.0), maquetación de reportes con pdf (v^3.12.0) y compresión ZIP real de hojas Excel con archive (v^4.0.9).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CL" sz="1150" b="1">
                <a:solidFill>
                  <a:srgbClr val="303030"/>
                </a:solidFill>
                <a:highlight>
                  <a:srgbClr val="FFFFFF"/>
                </a:highlight>
              </a:rPr>
              <a:t>3. Plataforma Web Secundaria (Administración)</a:t>
            </a:r>
            <a:endParaRPr sz="1150" b="1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Librería Base: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React 19 estructurado como SPA con TypeScript 6 y el empaquetador Vite 8 (con React Compiler habilitado).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Enrutamiento y Estado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: React Router 8, TanStack Query 5 para sincronización asíncrona de la API y Zustand 5 de uso exclusivo para persistencia de la sesión en el navegador.</a:t>
            </a:r>
            <a:endParaRPr sz="13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00"/>
              <a:buChar char="●"/>
            </a:pPr>
            <a:r>
              <a:rPr lang="es-CL" sz="1300" b="1">
                <a:solidFill>
                  <a:srgbClr val="303030"/>
                </a:solidFill>
                <a:highlight>
                  <a:srgbClr val="FFFFFF"/>
                </a:highlight>
              </a:rPr>
              <a:t>Estilos y Componentes: </a:t>
            </a:r>
            <a:r>
              <a:rPr lang="es-CL" sz="1300">
                <a:solidFill>
                  <a:srgbClr val="303030"/>
                </a:solidFill>
                <a:highlight>
                  <a:srgbClr val="FFFFFF"/>
                </a:highlight>
              </a:rPr>
              <a:t>Tailwind CSS v4, animaciones con Sonner para alertas emergentes, primitivas de Base UI y componentes estilizados de shadcn (diseño base-nova).</a:t>
            </a:r>
            <a:endParaRPr sz="115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Char char="●"/>
            </a:pPr>
            <a:r>
              <a:rPr lang="es-CL" sz="1500" b="1">
                <a:solidFill>
                  <a:srgbClr val="303030"/>
                </a:solidFill>
                <a:highlight>
                  <a:srgbClr val="FFFFFF"/>
                </a:highlight>
              </a:rPr>
              <a:t>Soporte continuo: </a:t>
            </a:r>
            <a:r>
              <a:rPr lang="es-CL" sz="1500">
                <a:solidFill>
                  <a:srgbClr val="303030"/>
                </a:solidFill>
                <a:highlight>
                  <a:srgbClr val="FFFFFF"/>
                </a:highlight>
              </a:rPr>
              <a:t>Cierra la brecha de atención entre sesiones terapéuticas, transformando el registro pasivo en herramientas activas de Terapia Cognitivo-Conductual (TCC) en tiempo real.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303030"/>
              </a:buClr>
              <a:buSzPts val="1500"/>
              <a:buChar char="●"/>
            </a:pPr>
            <a:r>
              <a:rPr lang="es-CL" sz="1500" b="1">
                <a:solidFill>
                  <a:srgbClr val="303030"/>
                </a:solidFill>
                <a:highlight>
                  <a:srgbClr val="FFFFFF"/>
                </a:highlight>
              </a:rPr>
              <a:t>Privacidad absoluta:</a:t>
            </a:r>
            <a:r>
              <a:rPr lang="es-CL" sz="1500">
                <a:solidFill>
                  <a:srgbClr val="303030"/>
                </a:solidFill>
                <a:highlight>
                  <a:srgbClr val="FFFFFF"/>
                </a:highlight>
              </a:rPr>
              <a:t> Su arquitectura de ecosistema dual aísla por diseño los datos clínicos de los usuarios de cualquier control del administrador web.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303030"/>
              </a:buClr>
              <a:buSzPts val="1500"/>
              <a:buChar char="●"/>
            </a:pPr>
            <a:r>
              <a:rPr lang="es-CL" sz="1500" b="1">
                <a:solidFill>
                  <a:srgbClr val="303030"/>
                </a:solidFill>
                <a:highlight>
                  <a:srgbClr val="FFFFFF"/>
                </a:highlight>
              </a:rPr>
              <a:t>Estar mejor vs. Sentirse mejor:</a:t>
            </a:r>
            <a:r>
              <a:rPr lang="es-CL" sz="1500">
                <a:solidFill>
                  <a:srgbClr val="303030"/>
                </a:solidFill>
                <a:highlight>
                  <a:srgbClr val="FFFFFF"/>
                </a:highlight>
              </a:rPr>
              <a:t> No busca un alivio temporal de crisis, sino dotar a las personas de hábitos de reestructuración cognitiva para toda la vida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1744</Words>
  <Application>Microsoft Office PowerPoint</Application>
  <PresentationFormat>Panorámica</PresentationFormat>
  <Paragraphs>134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Roboto Mono</vt:lpstr>
      <vt:lpstr>Arial</vt:lpstr>
      <vt:lpstr>Calibri</vt:lpstr>
      <vt:lpstr>Tema de Office</vt:lpstr>
      <vt:lpstr>Presentación Portafolio Título Mindsave</vt:lpstr>
      <vt:lpstr>Presentación de PowerPoint</vt:lpstr>
      <vt:lpstr>Descripción del Proyecto</vt:lpstr>
      <vt:lpstr>Presentación de PowerPoint</vt:lpstr>
      <vt:lpstr>Alcances</vt:lpstr>
      <vt:lpstr>Usuarios</vt:lpstr>
      <vt:lpstr>Lista de Requerimientos</vt:lpstr>
      <vt:lpstr>Mockups del Sistema</vt:lpstr>
      <vt:lpstr>Mockups del Sistema</vt:lpstr>
      <vt:lpstr>Presentación de PowerPoint</vt:lpstr>
      <vt:lpstr>Presentación de PowerPoint</vt:lpstr>
      <vt:lpstr>Hitos Importantes </vt:lpstr>
      <vt:lpstr>Costos por Fase </vt:lpstr>
      <vt:lpstr>Tecnologías del Desarrollo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Sala_</dc:creator>
  <cp:lastModifiedBy>Jeanette Leonelli</cp:lastModifiedBy>
  <cp:revision>3</cp:revision>
  <dcterms:created xsi:type="dcterms:W3CDTF">2015-07-01T15:45:01Z</dcterms:created>
  <dcterms:modified xsi:type="dcterms:W3CDTF">2026-09-10T21:39:42Z</dcterms:modified>
</cp:coreProperties>
</file>